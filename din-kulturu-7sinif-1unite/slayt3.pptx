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rvaNfXH-2zk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749040" y="502920"/>
            <a:ext cx="1645920" cy="164592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0" y="50292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⚖️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2286000" y="2395728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54203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SINIF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2944368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Ünite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Ahlaki Davranışlar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Bu Ünitede Neler Öğreneceğiz?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94460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944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Güzel Ahlaki Tutum ve Davranışlar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58568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482596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4825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295144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Peygamber Tanıyorum: Hz. Salih (as)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46704"/>
            <a:ext cx="82296" cy="960120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570732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5707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383280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Tanıyorum: Felak Suresi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Ahlaki Davranışlar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1143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Güzel Ahlaki Tutum ve Davranışlar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Ahlak, insanın yaratılışından gelen özellikleriyle iyilik ve mutluluğu hedef alan kuralların hayata geçirilmesiyle kazanılan güzel davranışlardır.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 üstün nitelik ve kıymetlerdir; tutum bir duruma karşı izlenen yoldur; davranış dıştan gözlemlenebilen hareketlerdir.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Ahlaki Davranışlar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17145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Güzel Ahlaki Tutum ve Davranışlar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Ahlak ilkelerinin iki temel kaynağı Kur'an-ı Kerim ve Hz. Peygamber'in sünnetidir.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Güzel ahlaki değerler: Adalet (doğruluk, eşitlik, hakkını verme), Dostluk (sevilen, güvenilen kimselerle kurulan bağ), Dürüstlük/Doğruluk (Sıdk — hakikati söyleme), Öz denetim (otokontrol — davranışları denetleme),…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Ahlaki Davranışlar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22860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4552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455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Peygamber Tanıyorum: Hz. Salih (as) (1/3)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Salih, babası Ubeyd, Semud kavmine gönderilen peygamberdir.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4552B">
              <a:alpha val="10000"/>
            </a:srgbClr>
          </a:solidFill>
          <a:ln w="9525">
            <a:solidFill>
              <a:srgbClr val="B45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B4552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B455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Semud kavmi, Âd kavminden sonra Hicr bölgesinde yaşamış, taş oymacılığıyla uğraşan bir kavimdir. Zamanla putperestliğe yönelen kavme Hz.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Ahlaki Davranışlar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455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2857500" cy="32004"/>
          </a:xfrm>
          <a:prstGeom prst="rect">
            <a:avLst/>
          </a:prstGeom>
          <a:solidFill>
            <a:srgbClr val="B4552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6A3E7A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6A3E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Peygamber Tanıyorum: Hz. Salih (as) (2/3)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Salih tevhidi tebliğ etti.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6A3E7A">
              <a:alpha val="10000"/>
            </a:srgbClr>
          </a:solidFill>
          <a:ln w="9525">
            <a:solidFill>
              <a:srgbClr val="6A3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6A3E7A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6A3E7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Allah, kayadan çıkan dişi bir deveyi mucize olarak gönderdi; kavim deveyi kesince 3 gün sonra korkunç bir uğultulu sesle helak oldular.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Ahlaki Davranışlar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6A3E7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3429000" cy="32004"/>
          </a:xfrm>
          <a:prstGeom prst="rect">
            <a:avLst/>
          </a:prstGeom>
          <a:solidFill>
            <a:srgbClr val="6A3E7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Peygamber Tanıyorum: Hz. Salih (as) (3/3)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B8860B">
              <a:alpha val="10000"/>
            </a:srgbClr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B8860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kıssa, Allah'a isyan etmemek için ibret alınması amacıyla anlatılır.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Ahlaki Davranışlar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4000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2E7D5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2E7D5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Tanıyorum: Felak Suresi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Felak suresi, Medine döneminde inmiş, 5 ayetten oluşan Kur'an suresidir. "Felak" sabahın aydınlığı anlamına gelir.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322576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2E7D5B">
              <a:alpha val="10000"/>
            </a:srgbClr>
          </a:solidFill>
          <a:ln w="9525">
            <a:solidFill>
              <a:srgbClr val="2E7D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322576"/>
            <a:ext cx="82296" cy="1024128"/>
          </a:xfrm>
          <a:prstGeom prst="roundRect">
            <a:avLst/>
          </a:prstGeom>
          <a:solidFill>
            <a:srgbClr val="2E7D5B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578608"/>
            <a:ext cx="512064" cy="512064"/>
          </a:xfrm>
          <a:prstGeom prst="ellipse">
            <a:avLst/>
          </a:prstGeom>
          <a:solidFill>
            <a:srgbClr val="2E7D5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5786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359152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Yaratılanların, gecenin karanlığının, büyücülerin ve hasetçilerin kötülüğünden Allah'a sığınmayı öğütler.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Ahlaki Davranışlar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8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0" name="Shape 18"/>
          <p:cNvSpPr/>
          <p:nvPr/>
        </p:nvSpPr>
        <p:spPr>
          <a:xfrm>
            <a:off x="0" y="5116068"/>
            <a:ext cx="4572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Tanıyorum: Felak Suresi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1024128"/>
          </a:xfrm>
          <a:prstGeom prst="roundRect">
            <a:avLst>
              <a:gd name="adj" fmla="val 7143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1024128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426464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42646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Nâs suresiyle birlikte "Muavvizeteyn" (iki koruyucu) diye anılır. Hz. Peygamber yatmadan önce ve namazlardan sonra bu sureyi okumuştur.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Ahlaki Davranışlar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9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5116068"/>
            <a:ext cx="5143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(1/2)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Ahlak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Değer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tutum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davranış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Adalet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Dostluk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6928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Dürüstlük/Doğruluk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45152" y="3602736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3602736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 denetim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66928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Sabır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645152" y="4407408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4407408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Saygı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Ahlaki Davranışlar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5116068"/>
            <a:ext cx="5715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🔑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Önemli Kavramlar (2/2)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Sevgi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45152" y="1188720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156670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0" y="1188720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Sorumluluk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4552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Vatanseverlik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45152" y="1993392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6A3E7A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1993392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Yardımseverlik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B8860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66928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Hz. Salih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45152" y="2798064"/>
            <a:ext cx="4041648" cy="658368"/>
          </a:xfrm>
          <a:prstGeom prst="roundRect">
            <a:avLst>
              <a:gd name="adj" fmla="val 16667"/>
            </a:avLst>
          </a:prstGeom>
          <a:solidFill>
            <a:srgbClr val="2E7D5B"/>
          </a:solidFill>
          <a:ln/>
          <a:effectLst>
            <a:outerShdw sx="100000" sy="100000" kx="0" ky="0" algn="bl" rotWithShape="0" blurRad="50800" dist="25400" dir="54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54880" y="2798064"/>
            <a:ext cx="382219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Ahlaki Davranışlar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11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2" name="Shape 20"/>
          <p:cNvSpPr/>
          <p:nvPr/>
        </p:nvSpPr>
        <p:spPr>
          <a:xfrm>
            <a:off x="0" y="5116068"/>
            <a:ext cx="6286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 elbette yüce bir ahlak üzeresin.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Kalem suresi, 4.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Ahlaki Davranışlar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68580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B8860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B8860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AYETLERLE DÜŞÜNELİM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051560"/>
            <a:ext cx="7680960" cy="2880360"/>
          </a:xfrm>
          <a:prstGeom prst="roundRect">
            <a:avLst>
              <a:gd name="adj" fmla="val 3175"/>
            </a:avLst>
          </a:prstGeom>
          <a:solidFill>
            <a:srgbClr val="FFFFFF">
              <a:alpha val="6000"/>
            </a:srgbClr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96012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❝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188720" y="141732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Muhakkak ki Allah, sabredenlerle beraberdir.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429000" y="3310128"/>
            <a:ext cx="2286000" cy="2743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29000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Bakara suresi, 153. ayet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Ahlaki Davranışlar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7429500" cy="32004"/>
          </a:xfrm>
          <a:prstGeom prst="rect">
            <a:avLst/>
          </a:prstGeom>
          <a:solidFill>
            <a:srgbClr val="B8860B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9260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8FD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KONUYLA İLGİLİ VİDEO</a:t>
            </a:r>
            <a:endParaRPr lang="en-US" sz="1600" dirty="0"/>
          </a:p>
        </p:txBody>
      </p:sp>
      <p:sp>
        <p:nvSpPr>
          <p:cNvPr id="6" name="Shape 4">
            <a:hlinkClick r:id="rId1" tooltip="YouTube'da izlemek için tıklayın"/>
          </p:cNvPr>
          <p:cNvSpPr/>
          <p:nvPr/>
        </p:nvSpPr>
        <p:spPr>
          <a:xfrm>
            <a:off x="914400" y="868680"/>
            <a:ext cx="7315200" cy="3246120"/>
          </a:xfrm>
          <a:prstGeom prst="roundRect">
            <a:avLst>
              <a:gd name="adj" fmla="val 1690"/>
            </a:avLst>
          </a:prstGeom>
          <a:solidFill>
            <a:srgbClr val="0B0B0B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7" name="Shape 5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ellipse">
            <a:avLst/>
          </a:prstGeom>
          <a:solidFill>
            <a:srgbClr val="E6211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>
            <a:hlinkClick r:id="rId1" tooltip="YouTube'da izlemek için tıklayın"/>
          </p:cNvPr>
          <p:cNvSpPr/>
          <p:nvPr/>
        </p:nvSpPr>
        <p:spPr>
          <a:xfrm>
            <a:off x="3977640" y="192024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u="sng" dirty="0">
                <a:solidFill>
                  <a:srgbClr val="FFFFFF"/>
                </a:solidFill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</a:t>
            </a:r>
            <a:endParaRPr lang="en-US" sz="3600" dirty="0"/>
          </a:p>
        </p:txBody>
      </p:sp>
      <p:sp>
        <p:nvSpPr>
          <p:cNvPr id="9" name="Text 7">
            <a:hlinkClick r:id="rId1" tooltip="YouTube'da izlemek için tıklayın"/>
          </p:cNvPr>
          <p:cNvSpPr/>
          <p:nvPr/>
        </p:nvSpPr>
        <p:spPr>
          <a:xfrm>
            <a:off x="1188720" y="3291840"/>
            <a:ext cx="6766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İyilik Sever Çocuklar</a:t>
            </a:r>
            <a:endParaRPr lang="en-US" sz="1600" dirty="0"/>
          </a:p>
        </p:txBody>
      </p:sp>
      <p:sp>
        <p:nvSpPr>
          <p:cNvPr id="10" name="Text 8">
            <a:hlinkClick r:id="rId1" tooltip="YouTube'da izlemek için tıklayın"/>
          </p:cNvPr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u="sng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YouTube'da izlemek için tıklayın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👆 İzlemek için tıklayın (YouTube'da açılır)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Ahlaki Davranışlar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2E7D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5116068"/>
            <a:ext cx="8001000" cy="32004"/>
          </a:xfrm>
          <a:prstGeom prst="rect">
            <a:avLst/>
          </a:prstGeom>
          <a:solidFill>
            <a:srgbClr val="2E7D5B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3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5720"/>
          </a:xfrm>
          <a:prstGeom prst="rect">
            <a:avLst/>
          </a:prstGeom>
          <a:solidFill>
            <a:srgbClr val="156670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"/>
            <a:ext cx="658368" cy="658368"/>
          </a:xfrm>
          <a:prstGeom prst="ellipse">
            <a:avLst/>
          </a:prstGeom>
          <a:solidFill>
            <a:srgbClr val="15667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2801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0"/>
            <a:ext cx="7589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Ünite Özeti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457200" y="1170432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70432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" y="1394460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" y="13944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1371600" y="1207008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Güzel Ahlaki Tutum ve Davranışlar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7200" y="2258568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258568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4" name="Shape 12"/>
          <p:cNvSpPr/>
          <p:nvPr/>
        </p:nvSpPr>
        <p:spPr>
          <a:xfrm>
            <a:off x="658368" y="2482596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48259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44" dirty="0"/>
          </a:p>
        </p:txBody>
      </p:sp>
      <p:sp>
        <p:nvSpPr>
          <p:cNvPr id="16" name="Text 14"/>
          <p:cNvSpPr/>
          <p:nvPr/>
        </p:nvSpPr>
        <p:spPr>
          <a:xfrm>
            <a:off x="1371600" y="2295144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Peygamber Tanıyorum: Hz. Salih (as)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57200" y="3346704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56670">
              <a:alpha val="10000"/>
            </a:srgbClr>
          </a:solidFill>
          <a:ln w="9525">
            <a:solidFill>
              <a:srgbClr val="1566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46704"/>
            <a:ext cx="82296" cy="960120"/>
          </a:xfrm>
          <a:prstGeom prst="roundRect">
            <a:avLst/>
          </a:prstGeom>
          <a:solidFill>
            <a:srgbClr val="156670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3570732"/>
            <a:ext cx="512064" cy="512064"/>
          </a:xfrm>
          <a:prstGeom prst="ellipse">
            <a:avLst/>
          </a:prstGeom>
          <a:solidFill>
            <a:srgbClr val="156670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357073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44" dirty="0"/>
          </a:p>
        </p:txBody>
      </p:sp>
      <p:sp>
        <p:nvSpPr>
          <p:cNvPr id="21" name="Text 19"/>
          <p:cNvSpPr/>
          <p:nvPr/>
        </p:nvSpPr>
        <p:spPr>
          <a:xfrm>
            <a:off x="1371600" y="3383280"/>
            <a:ext cx="717804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Sure Tanıyorum: Felak Suresi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274320" y="4882896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Sınıf DKAB — Ahlaki Davranışlar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366760" y="4828032"/>
            <a:ext cx="502920" cy="292608"/>
          </a:xfrm>
          <a:prstGeom prst="roundRect">
            <a:avLst>
              <a:gd name="adj" fmla="val 18750"/>
            </a:avLst>
          </a:prstGeom>
          <a:solidFill>
            <a:srgbClr val="15667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15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5116068"/>
            <a:ext cx="9144000" cy="32004"/>
          </a:xfrm>
          <a:prstGeom prst="rect">
            <a:avLst/>
          </a:prstGeom>
          <a:solidFill>
            <a:srgbClr val="E5E0D0"/>
          </a:solidFill>
          <a:ln/>
        </p:spPr>
      </p:sp>
      <p:sp>
        <p:nvSpPr>
          <p:cNvPr id="25" name="Shape 23"/>
          <p:cNvSpPr/>
          <p:nvPr/>
        </p:nvSpPr>
        <p:spPr>
          <a:xfrm>
            <a:off x="0" y="5116068"/>
            <a:ext cx="8572500" cy="32004"/>
          </a:xfrm>
          <a:prstGeom prst="rect">
            <a:avLst/>
          </a:prstGeom>
          <a:solidFill>
            <a:srgbClr val="156670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3A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188720"/>
            <a:ext cx="2926080" cy="2926080"/>
          </a:xfrm>
          <a:prstGeom prst="ellipse">
            <a:avLst/>
          </a:prstGeom>
          <a:solidFill>
            <a:srgbClr val="2E7D5B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3291840"/>
            <a:ext cx="2743200" cy="2743200"/>
          </a:xfrm>
          <a:prstGeom prst="ellipse">
            <a:avLst/>
          </a:prstGeom>
          <a:solidFill>
            <a:srgbClr val="2E7D5B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-731520"/>
            <a:ext cx="1463040" cy="1463040"/>
          </a:xfrm>
          <a:prstGeom prst="ellipse">
            <a:avLst/>
          </a:prstGeom>
          <a:solidFill>
            <a:srgbClr val="B8860B">
              <a:alpha val="2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886200" y="502920"/>
            <a:ext cx="1371600" cy="1371600"/>
          </a:xfrm>
          <a:prstGeom prst="ellipse">
            <a:avLst/>
          </a:prstGeom>
          <a:solidFill>
            <a:srgbClr val="B8860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86200" y="50292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🌟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2286000" y="2148840"/>
            <a:ext cx="4572000" cy="4114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Dinlediğiniz İçin Teşekkürler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457200" y="2971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Başarılar dilerim.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Ayşe Yazıcı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 Kültürü ve Ahlak Bilgisi Öğretmeni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 Sınıf 3. Ünite: Ahlaki Davranışlar</dc:title>
  <dc:subject>PptxGenJS Presentation</dc:subject>
  <dc:creator>Ayşe Yazıcı</dc:creator>
  <cp:lastModifiedBy>Ayşe Yazıcı</cp:lastModifiedBy>
  <cp:revision>1</cp:revision>
  <dcterms:created xsi:type="dcterms:W3CDTF">2026-07-12T14:54:09Z</dcterms:created>
  <dcterms:modified xsi:type="dcterms:W3CDTF">2026-07-12T14:54:09Z</dcterms:modified>
</cp:coreProperties>
</file>