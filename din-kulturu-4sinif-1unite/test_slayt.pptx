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3A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331720"/>
            <a:ext cx="9144000" cy="54864"/>
          </a:xfrm>
          <a:prstGeom prst="rect">
            <a:avLst/>
          </a:prstGeom>
          <a:solidFill>
            <a:srgbClr val="B8860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0515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SINIF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57200" y="150876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Ünite: Günlük Hayattaki Dinî İfadeler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457200" y="26060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Din Kültürü ve Ahlak Bilgisi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44805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Ayşe Yazıcı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3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B3A4B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Bu Ünitede Neler Öğreneceğiz?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1051560"/>
            <a:ext cx="82296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Günlük Konuşmalarda Dinî İfadeler</a:t>
            </a:r>
            <a:endParaRPr lang="en-US" sz="18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Dilek ve Dualarda Geçen Dinî İfadeler</a:t>
            </a:r>
            <a:endParaRPr lang="en-US" sz="18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Bir Dua Tanıyorum: Sübhâneke Duası ve Anlamı</a:t>
            </a:r>
            <a:endParaRPr lang="en-US" sz="18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Öğrendiklerimizi Değerlendiriyoruz</a:t>
            </a:r>
            <a:endParaRPr lang="en-US" sz="18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Genişletilmiş Kavramlar Sözlüğü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274320" y="489204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Sınıf DKAB — Günlük Hayattaki Dinî İfadeler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3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B3A4B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Günlük Konuşmalarda Dinî İfadeler (1/3)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1051560"/>
            <a:ext cx="82296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 ifadeler, günlük hayatın hemen her anında karşımıza çıkar: bir işe başlarken, bir nimete kavuşunca, birine rastlayınca ya da bir hatamızı fark edince... Her birinin kendine göre bir kullanım yeri…</a:t>
            </a:r>
            <a:endParaRPr lang="en-US" sz="15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📿 Besmele — "Bismillâhirrahmânirrahîm" Anlamı: "Rahman ve Rahim olan Allah'ın adıyla." Yemeğe, derse, bir işe veya yolculuğa başlarken söylenir. Besmeleyle başlanan işlerin bereketli ve hayırlı…</a:t>
            </a:r>
            <a:endParaRPr lang="en-US" sz="15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🙏 Hamd — "Elhamdülillah" Anlamı: "Övgü ve şükür Allah'a mahsustur." Bir nimete, güzel bir habere ya da başarıya kavuştuğumuzda Allah'ı övmek ve O'na teşekkür etmek için söylenir. Hamd etmek, sahip…</a:t>
            </a:r>
            <a:endParaRPr lang="en-US" sz="15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💚 Şükür — "Allah'a şükür" Anlamı: Allah'ın bize verdiği nimetlere karşı duyulan minnettarlığı dile getirmektir. Şükür, sadece dille söylenen bir söz değil; nimeti yerinde kullanmak ve başkalarıyla…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274320" y="489204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Sınıf DKAB — Günlük Hayattaki Dinî İfadeler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3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B3A4B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Günlük Konuşmalarda Dinî İfadeler (2/3)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1051560"/>
            <a:ext cx="82296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🤝 Selam — "Selamünaleyküm" / "Ve aleykümselam" Anlamı: "Allah'ın selameti/esenliği senin üzerine olsun." Müslümanların karşılaştıklarında birbirlerine söylediği, sevgi ve barış dileyen bir ifadedir.…</a:t>
            </a:r>
            <a:endParaRPr lang="en-US" sz="15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🕌 Tekbir — "Allahu Ekber" Anlamı: "Allah en büyüktür." Allah'ın büyüklüğünü, üstünlüğünü anmak için söylenir. Namazın başında ve içinde, ezanda ve bayramlarda sıkça duyduğumuz bir ifadedir.</a:t>
            </a:r>
            <a:endParaRPr lang="en-US" sz="15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🌙 Salavat — "Allahümme salli alâ seyyidina Muhammed" Anlamı: Peygamberimize dua etmek, ona sevgi ve saygı sunmaktır. Peygamberimizin adı anıldığında salavat getirmek, ona olan bağlılığımızı gösterir.</a:t>
            </a:r>
            <a:endParaRPr lang="en-US" sz="15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😔 İstiğfar — "Estağfirullah" Anlamı: "Allah'tan bağışlanma dilerim." Yanlışlıkla kötü bir söz söylediğimizde, bir hata yaptığımızda ya da pişmanlık duyduğumuzda Allah'tan af dilemek için söylenir.…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274320" y="489204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Sınıf DKAB — Günlük Hayattaki Dinî İfadeler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3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B3A4B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Günlük Konuşmalarda Dinî İfadeler (3/3)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1051560"/>
            <a:ext cx="82296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✨ Tesbih — "Sübhanallah" Anlamı: "Allah'ı bütün eksikliklerden uzak tutarım." Allah'ın hiçbir kusuru olamayacağını, O'nun yüceliğini dile getirmek için; genellikle hayranlık uyandıran güzellikler…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274320" y="489204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Sınıf DKAB — Günlük Hayattaki Dinî İfadeler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3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B3A4B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Dilek ve Dualarda Geçen Dinî İfadeler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1051560"/>
            <a:ext cx="82296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Dua, kulun Allah'a yönelerek O'ndan bir şey istemesi, O'na yalvarması ve gönlünü açmasıdır. Sevdiklerimize iyi dileklerde bulunurken de aslında onlar için Allah'tan bir şeyler dileriz. İşte bu yüzden…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274320" y="489204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Sınıf DKAB — Günlük Hayattaki Dinî İfadeler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3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B3A4B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Bir Dua Tanıyorum: Sübhâneke Duası ve Anlamı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1051560"/>
            <a:ext cx="82296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Kelime kelime anlamı:</a:t>
            </a:r>
            <a:endParaRPr lang="en-US" sz="15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 zaman okunur? Sübhâneke duası, namaza durup iftitah (başlangıç) tekbiri aldıktan hemen sonra, Kur'an okumaya başlamadan önce okunur. Bu yüzden bu duaya "namazın anahtarı" da denilebilir.</a:t>
            </a:r>
            <a:endParaRPr lang="en-US" sz="15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Neden önemlidir? Sübhâneke duasıyla namaza, Allah'ı övüp yücelterek ve O'ndan başka ilah olmadığını hatırlayarak başlarız. Bu dua, kalbimizi ibadete hazırlar ve Allah'a olan bağlılığımızı tazeler.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274320" y="489204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Sınıf DKAB — Günlük Hayattaki Dinî İfadeler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3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B3A4B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Öğrendiklerimizi Değerlendiriyoruz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1051560"/>
            <a:ext cx="82296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Ünitenin sonunda şu kazanımlar değerlendirilir:</a:t>
            </a:r>
            <a:endParaRPr lang="en-US" sz="15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 kazanımlar, sayfadaki "✅ Değerlendirme" ve "📝 Araştırma Oyunları" bölümlerindeki zamanlı testlerle (can hakkı ve puanlama ile) ölçülür.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274320" y="489204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Sınıf DKAB — Günlük Hayattaki Dinî İfadeler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3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B3A4B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Genişletilmiş Kavramlar Sözlüğü (1/2)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1051560"/>
            <a:ext cx="82296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Dinî ifadeleri daha iyi anlayabilmek için bilmemiz gereken temel kavramlar, konularına göre gruplandırılmıştır:</a:t>
            </a:r>
            <a:endParaRPr lang="en-US" sz="15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Allah ve Peygamberimizle İlgili Kavramlar</a:t>
            </a:r>
            <a:endParaRPr lang="en-US" sz="15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Allah'ın Bize Verdikleri</a:t>
            </a:r>
            <a:endParaRPr lang="en-US" sz="15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Davranışlarımızın Karşılığı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274320" y="489204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Sınıf DKAB — Günlük Hayattaki Dinî İfadeler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3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B3A4B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Genişletilmiş Kavramlar Sözlüğü (2/2)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1051560"/>
            <a:ext cx="82296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Ahiretle İlgili Kavramlar</a:t>
            </a:r>
            <a:endParaRPr lang="en-US" sz="15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İbadetlerle İlgili Kavramlar</a:t>
            </a:r>
            <a:endParaRPr lang="en-US" sz="15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Mübarek Zaman ve Günler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274320" y="489204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Sınıf DKAB — Günlük Hayattaki Dinî İfadeler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3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B3A4B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🔑 Önemli Kavramlar (1/2)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48640" y="1097280"/>
            <a:ext cx="3749040" cy="3566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03200" indent="-203200">
              <a:spcAft>
                <a:spcPts val="1400"/>
              </a:spcAft>
              <a:buSzPct val="100000"/>
              <a:buChar char="▪"/>
            </a:pPr>
            <a:r>
              <a:rPr lang="en-US" sz="1700" b="1" dirty="0">
                <a:solidFill>
                  <a:srgbClr val="1B3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Besmele —</a:t>
            </a:r>
            <a:endParaRPr lang="en-US" sz="1700" dirty="0"/>
          </a:p>
          <a:p>
            <a:pPr marL="203200" indent="-203200">
              <a:spcAft>
                <a:spcPts val="1400"/>
              </a:spcAft>
              <a:buSzPct val="100000"/>
              <a:buChar char="▪"/>
            </a:pPr>
            <a:r>
              <a:rPr lang="en-US" sz="1700" b="1" dirty="0">
                <a:solidFill>
                  <a:srgbClr val="1B3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Hamd —</a:t>
            </a:r>
            <a:endParaRPr lang="en-US" sz="1700" dirty="0"/>
          </a:p>
          <a:p>
            <a:pPr marL="203200" indent="-203200">
              <a:spcAft>
                <a:spcPts val="1400"/>
              </a:spcAft>
              <a:buSzPct val="100000"/>
              <a:buChar char="▪"/>
            </a:pPr>
            <a:r>
              <a:rPr lang="en-US" sz="1700" b="1" dirty="0">
                <a:solidFill>
                  <a:srgbClr val="1B3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Şükür —</a:t>
            </a:r>
            <a:endParaRPr lang="en-US" sz="1700" dirty="0"/>
          </a:p>
          <a:p>
            <a:pPr marL="203200" indent="-203200">
              <a:spcAft>
                <a:spcPts val="1400"/>
              </a:spcAft>
              <a:buSzPct val="100000"/>
              <a:buChar char="▪"/>
            </a:pPr>
            <a:r>
              <a:rPr lang="en-US" sz="1700" b="1" dirty="0">
                <a:solidFill>
                  <a:srgbClr val="1B3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Tekbir —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4572000" y="1097280"/>
            <a:ext cx="3749040" cy="3566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03200" indent="-203200">
              <a:spcAft>
                <a:spcPts val="1400"/>
              </a:spcAft>
              <a:buSzPct val="100000"/>
              <a:buChar char="▪"/>
            </a:pPr>
            <a:r>
              <a:rPr lang="en-US" sz="1700" b="1" dirty="0">
                <a:solidFill>
                  <a:srgbClr val="1B3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İstiğfar —</a:t>
            </a:r>
            <a:endParaRPr lang="en-US" sz="1700" dirty="0"/>
          </a:p>
          <a:p>
            <a:pPr marL="203200" indent="-203200">
              <a:spcAft>
                <a:spcPts val="1400"/>
              </a:spcAft>
              <a:buSzPct val="100000"/>
              <a:buChar char="▪"/>
            </a:pPr>
            <a:r>
              <a:rPr lang="en-US" sz="1700" b="1" dirty="0">
                <a:solidFill>
                  <a:srgbClr val="1B3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Tesbih —</a:t>
            </a:r>
            <a:endParaRPr lang="en-US" sz="1700" dirty="0"/>
          </a:p>
          <a:p>
            <a:pPr marL="203200" indent="-203200">
              <a:spcAft>
                <a:spcPts val="1400"/>
              </a:spcAft>
              <a:buSzPct val="100000"/>
              <a:buChar char="▪"/>
            </a:pPr>
            <a:r>
              <a:rPr lang="en-US" sz="1700" b="1" dirty="0">
                <a:solidFill>
                  <a:srgbClr val="1B3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Dua</a:t>
            </a:r>
            <a:endParaRPr lang="en-US" sz="1700" dirty="0"/>
          </a:p>
          <a:p>
            <a:pPr marL="203200" indent="-203200">
              <a:spcAft>
                <a:spcPts val="1400"/>
              </a:spcAft>
              <a:buSzPct val="100000"/>
              <a:buChar char="▪"/>
            </a:pPr>
            <a:r>
              <a:rPr lang="en-US" sz="1700" b="1" dirty="0">
                <a:solidFill>
                  <a:srgbClr val="1B3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Allah'ın Bize Verdikleri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274320" y="489204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Sınıf DKAB — Günlük Hayattaki Dinî İfadeler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3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B3A4B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🔑 Önemli Kavramlar (2/2)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48640" y="1097280"/>
            <a:ext cx="3749040" cy="3566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03200" indent="-203200">
              <a:spcAft>
                <a:spcPts val="1400"/>
              </a:spcAft>
              <a:buSzPct val="100000"/>
              <a:buChar char="▪"/>
            </a:pPr>
            <a:r>
              <a:rPr lang="en-US" sz="1700" b="1" dirty="0">
                <a:solidFill>
                  <a:srgbClr val="1B3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Davranışlarımızın Karşılığı</a:t>
            </a:r>
            <a:endParaRPr lang="en-US" sz="1700" dirty="0"/>
          </a:p>
          <a:p>
            <a:pPr marL="203200" indent="-203200">
              <a:spcAft>
                <a:spcPts val="1400"/>
              </a:spcAft>
              <a:buSzPct val="100000"/>
              <a:buChar char="▪"/>
            </a:pPr>
            <a:r>
              <a:rPr lang="en-US" sz="1700" b="1" dirty="0">
                <a:solidFill>
                  <a:srgbClr val="1B3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Ahiretle İlgili Kavramlar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4572000" y="1097280"/>
            <a:ext cx="3749040" cy="3566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03200" indent="-203200">
              <a:spcAft>
                <a:spcPts val="1400"/>
              </a:spcAft>
              <a:buSzPct val="100000"/>
              <a:buChar char="▪"/>
            </a:pPr>
            <a:r>
              <a:rPr lang="en-US" sz="1700" b="1" dirty="0">
                <a:solidFill>
                  <a:srgbClr val="1B3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İbadetlerle İlgili Kavramlar</a:t>
            </a:r>
            <a:endParaRPr lang="en-US" sz="1700" dirty="0"/>
          </a:p>
          <a:p>
            <a:pPr marL="203200" indent="-203200">
              <a:spcAft>
                <a:spcPts val="1400"/>
              </a:spcAft>
              <a:buSzPct val="100000"/>
              <a:buChar char="▪"/>
            </a:pPr>
            <a:r>
              <a:rPr lang="en-US" sz="1700" b="1" dirty="0">
                <a:solidFill>
                  <a:srgbClr val="1B3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Mübarek Zaman ve Günler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274320" y="489204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Sınıf DKAB — Günlük Hayattaki Dinî İfadeler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B3A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8046720" cy="36576"/>
          </a:xfrm>
          <a:prstGeom prst="rect">
            <a:avLst/>
          </a:prstGeom>
          <a:solidFill>
            <a:srgbClr val="B8860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📖 Ayetlerle Düşünelim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822960" y="1463040"/>
            <a:ext cx="749808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"Hamd, âlemlerin Rabbi Allah'a mahsustur."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822960" y="3566160"/>
            <a:ext cx="7498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Fatiha suresi, 2. ayet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274320" y="489204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Sınıf DKAB — Günlük Hayattaki Dinî İfadeler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B3A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8046720" cy="36576"/>
          </a:xfrm>
          <a:prstGeom prst="rect">
            <a:avLst/>
          </a:prstGeom>
          <a:solidFill>
            <a:srgbClr val="B8860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📖 Ayetlerle Düşünelim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822960" y="1463040"/>
            <a:ext cx="749808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"Eğer şükrederseniz, elbette size nimetimi artırırım."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822960" y="3566160"/>
            <a:ext cx="7498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İbrahim suresi, 7. ayet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274320" y="489204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Sınıf DKAB — Günlük Hayattaki Dinî İfadeler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7F3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B3A4B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📝 Ünite Özeti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1051560"/>
            <a:ext cx="82296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Dinî ifadeler nedir? İnsanlar, düşüncelerini ve duygularını dille ifade eder.</a:t>
            </a:r>
            <a:endParaRPr lang="en-US" sz="15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Dilimizde, dinimizin etkisiyle ortaya çıkmış ve günlük konuşmalarımıza yerleşmiş birçok söz ve kavram vardır.</a:t>
            </a:r>
            <a:endParaRPr lang="en-US" sz="15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İşte bunlara dinî ifadeler denir.</a:t>
            </a:r>
            <a:endParaRPr lang="en-US" sz="15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Sevincimizi, üzüntümüzü, şükranımızı, dileğimizi ya da bir hatamızı fark ettiğimizde bu ifadeleri kullanırız.</a:t>
            </a:r>
            <a:endParaRPr lang="en-US" sz="15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 ifadeleri yerinde ve bilinçli kullanmak; Allah'ı, Peygamberimizi ve dinimizin öğütlediği güzel ahlakı hatırlamamızı sağlar.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274320" y="489204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Sınıf DKAB — Günlük Hayattaki Dinî İfadeler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B3A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331720"/>
            <a:ext cx="9144000" cy="54864"/>
          </a:xfrm>
          <a:prstGeom prst="rect">
            <a:avLst/>
          </a:prstGeom>
          <a:solidFill>
            <a:srgbClr val="B8860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73736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Dinledİğiniz İçin Teşekkürler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26060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Başarılar dilerim.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30632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Ayşe Yazıcı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33832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Din Kültürü ve Ahlak Bilgisi Öğretmeni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4. Sınıf 1. Ünite: Günlük Hayattaki Dinî İfadeler</dc:title>
  <dc:subject>PptxGenJS Presentation</dc:subject>
  <dc:creator>Ayşe Yazıcı</dc:creator>
  <cp:lastModifiedBy>Ayşe Yazıcı</cp:lastModifiedBy>
  <cp:revision>1</cp:revision>
  <dcterms:created xsi:type="dcterms:W3CDTF">2026-07-12T10:17:13Z</dcterms:created>
  <dcterms:modified xsi:type="dcterms:W3CDTF">2026-07-12T10:17:13Z</dcterms:modified>
</cp:coreProperties>
</file>