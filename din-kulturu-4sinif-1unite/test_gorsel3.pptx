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Y_U_fmZotVk" TargetMode="External"/><Relationship Id="rId1" Type="http://schemas.openxmlformats.org/officeDocument/2006/relationships/image" Target="../media/image-1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LENOVO THİNKPAD E14/Desktop/din-kulturu-slayt-gorseller/optimized/geo1_buyu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23560" y="0"/>
            <a:ext cx="352044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59552" y="0"/>
            <a:ext cx="82296" cy="514807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1"/>
          <p:cNvSpPr/>
          <p:nvPr/>
        </p:nvSpPr>
        <p:spPr>
          <a:xfrm>
            <a:off x="5623560" y="4709160"/>
            <a:ext cx="3520440" cy="438912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669280" y="4718304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Görsel: Petar Milošević, Wikimedia Commons (CC BY-SA 4.0)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-731520" y="3840480"/>
            <a:ext cx="2011680" cy="201168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148840" y="457200"/>
            <a:ext cx="1463040" cy="146304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48840" y="4572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🕌</a:t>
            </a:r>
            <a:endParaRPr lang="en-US" sz="4600" dirty="0"/>
          </a:p>
        </p:txBody>
      </p:sp>
      <p:sp>
        <p:nvSpPr>
          <p:cNvPr id="10" name="Shape 7"/>
          <p:cNvSpPr/>
          <p:nvPr/>
        </p:nvSpPr>
        <p:spPr>
          <a:xfrm>
            <a:off x="640080" y="2286000"/>
            <a:ext cx="420624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241401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SINIF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20040" y="2761488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Ünite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Hayattaki Dinî İfadeler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20040" y="4297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" y="464515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6903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183880" y="91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8" name="Image 0" descr="C:/Users/LENOVO THİNKPAD E14/Desktop/din-kulturu-slayt-gorseller/optimized/geo1_kucu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38744" y="146304"/>
            <a:ext cx="621792" cy="621792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243584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243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188366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1883664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1956816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1371600" y="1920240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Dilek ve Dualarda Geçen Dinî İfadeler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259689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596896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" y="2670048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1371600" y="2633472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Sübhâneke Duası ve Anlamı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31012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310128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6" name="Shape 23"/>
          <p:cNvSpPr/>
          <p:nvPr/>
        </p:nvSpPr>
        <p:spPr>
          <a:xfrm>
            <a:off x="658368" y="3383280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" y="3383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52" dirty="0"/>
          </a:p>
        </p:txBody>
      </p:sp>
      <p:sp>
        <p:nvSpPr>
          <p:cNvPr id="28" name="Text 25"/>
          <p:cNvSpPr/>
          <p:nvPr/>
        </p:nvSpPr>
        <p:spPr>
          <a:xfrm>
            <a:off x="1371600" y="3346704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Öğrendiklerimizi Değerlendiriyoruz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402336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023360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31" name="Shape 28"/>
          <p:cNvSpPr/>
          <p:nvPr/>
        </p:nvSpPr>
        <p:spPr>
          <a:xfrm>
            <a:off x="658368" y="4096512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2" name="Text 29"/>
          <p:cNvSpPr/>
          <p:nvPr/>
        </p:nvSpPr>
        <p:spPr>
          <a:xfrm>
            <a:off x="658368" y="4096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152" dirty="0"/>
          </a:p>
        </p:txBody>
      </p:sp>
      <p:sp>
        <p:nvSpPr>
          <p:cNvPr id="33" name="Text 30"/>
          <p:cNvSpPr/>
          <p:nvPr/>
        </p:nvSpPr>
        <p:spPr>
          <a:xfrm>
            <a:off x="1371600" y="4059936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7" name="Shape 34"/>
          <p:cNvSpPr/>
          <p:nvPr/>
        </p:nvSpPr>
        <p:spPr>
          <a:xfrm>
            <a:off x="0" y="5116068"/>
            <a:ext cx="107576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6903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(1/4)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183880" y="91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8" name="Image 0" descr="C:/Users/LENOVO THİNKPAD E14/Desktop/din-kulturu-slayt-gorseller/optimized/geo1_kucu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38744" y="146304"/>
            <a:ext cx="621792" cy="621792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ifadeler, günlük hayatın hemen her anında karşımıza çıkar: bir işe başlarken, bir nimete kavuşunca, birine rastlayınca ya da bir hatamızı fark edince...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birinin kendine göre bir kullanım yeri ve manevi anlamı vardır.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📿 Besmele — "Bismillâhirrahmânirrahîm" Anlamı: "Rahman ve Rahim olan Allah'ın adıyla." Yemeğe, derse, bir işe veya yolculuğa başlarken söylenir.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6" name="Shape 23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Besmeleyle başlanan işlerin bereketli ve hayırlı olacağına inanılır.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31" name="Shape 28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2" name="Text 29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3" name="Text 30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peygamberimiz her güzel işe besmeleyle başlamamızı öğütlemiştir.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7" name="Shape 34"/>
          <p:cNvSpPr/>
          <p:nvPr/>
        </p:nvSpPr>
        <p:spPr>
          <a:xfrm>
            <a:off x="0" y="5116068"/>
            <a:ext cx="1613647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6903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(2/4)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183880" y="91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8" name="Image 0" descr="C:/Users/LENOVO THİNKPAD E14/Desktop/din-kulturu-slayt-gorseller/optimized/geo1_kucu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38744" y="146304"/>
            <a:ext cx="621792" cy="621792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Hamd — "Elhamdülillah" Anlamı: "Övgü ve şükür Allah'a mahsustur." Bir nimete, güzel bir habere ya da başarıya kavuştuğumuzda Allah'ı övmek ve O'na teşekkür etmek için söylenir.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Hamd etmek, sahip olduklarımızın kıymetini bilmemizi sağlar.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 Şükür — "Allah'a şükür" Anlamı: Allah'ın bize verdiği nimetlere karşı duyulan minnettarlığı dile getirmektir.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6" name="Shape 23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Şükür, sadece dille söylenen bir söz değil; nimeti yerinde kullanmak ve başkalarıyla paylaşmaktır da.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31" name="Shape 28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32" name="Text 29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3" name="Text 30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Selam — "Selamünaleyküm" / "Ve aleykümselam" Anlamı: "Allah'ın selameti/esenliği senin üzerine olsun." Müslümanların karşılaştıklarında birbirlerine söylediği, sevgi ve barış dileyen bir ifadedir.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7" name="Shape 34"/>
          <p:cNvSpPr/>
          <p:nvPr/>
        </p:nvSpPr>
        <p:spPr>
          <a:xfrm>
            <a:off x="0" y="5116068"/>
            <a:ext cx="2151529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6903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(3/4)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183880" y="91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8" name="Image 0" descr="C:/Users/LENOVO THİNKPAD E14/Desktop/din-kulturu-slayt-gorseller/optimized/geo1_kucu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38744" y="146304"/>
            <a:ext cx="621792" cy="621792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 selamı yaymayı, insanlar arasında sevgiyi artıran bir davranış olarak tavsiye etmiştir.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🕌 Tekbir — "Allahu Ekber" Anlamı: "Allah en büyüktür." Allah'ın büyüklüğünü, üstünlüğünü anmak için söylenir.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başında ve içinde, ezanda ve bayramlarda sıkça duyduğumuz bir ifadedir.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6" name="Shape 23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Salavat — "Allahümme salli alâ seyyidina Muhammed" Anlamı: Peygamberimize dua etmek, ona sevgi ve saygı sunmaktır.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31" name="Shape 28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32" name="Text 29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3" name="Text 30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Peygamberimizin adı anıldığında salavat getirmek, ona olan bağlılığımızı gösterir.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7" name="Shape 34"/>
          <p:cNvSpPr/>
          <p:nvPr/>
        </p:nvSpPr>
        <p:spPr>
          <a:xfrm>
            <a:off x="0" y="5116068"/>
            <a:ext cx="2689412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6903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(4/4)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183880" y="91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8" name="Image 0" descr="C:/Users/LENOVO THİNKPAD E14/Desktop/din-kulturu-slayt-gorseller/optimized/geo1_kucu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38744" y="146304"/>
            <a:ext cx="621792" cy="621792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😔 İstiğfar — "Estağfirullah" Anlamı: "Allah'tan bağışlanma dilerim." Yanlışlıkla kötü bir söz söylediğimizde, bir hata yaptığımızda ya da pişmanlık duyduğumuzda Allah'tan af dilemek için söylenir.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8" name="Text 15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İstiğfar etmek, hatalarımızdan ders çıkarıp kendimizi düzeltmeye çalışmamız gerektiğini hatırlatır.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3" name="Text 20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Tesbih — "Sübhanallah" Anlamı: "Allah'ı bütün eksikliklerden uzak tutarım." Allah'ın hiçbir kusuru olamayacağını, O'nun yüceliğini dile getirmek için; genellikle hayranlık uyandıran güzellikler karşısında da söylenir.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7" name="Shape 24"/>
          <p:cNvSpPr/>
          <p:nvPr/>
        </p:nvSpPr>
        <p:spPr>
          <a:xfrm>
            <a:off x="0" y="5116068"/>
            <a:ext cx="3227294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6903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Dilek ve Dualarda Geçen Dinî İfadeler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183880" y="91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8" name="Image 0" descr="C:/Users/LENOVO THİNKPAD E14/Desktop/din-kulturu-slayt-gorseller/optimized/geo1_kucu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38744" y="146304"/>
            <a:ext cx="621792" cy="621792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Dua, kulun Allah'a yönelerek O'ndan bir şey istemesi, O'na yalvarması ve gönlünü açmasıdır.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8" name="Text 15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Sevdiklerimize iyi dileklerde bulunurken de aslında onlar için Allah'tan bir şeyler dileriz.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3" name="Text 20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İşte bu yüzden günlük hayatımızda birçok "dilek ifadesi" kullanırız: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7" name="Shape 24"/>
          <p:cNvSpPr/>
          <p:nvPr/>
        </p:nvSpPr>
        <p:spPr>
          <a:xfrm>
            <a:off x="0" y="5116068"/>
            <a:ext cx="376517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6903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Sübhâneke Duası ve Anlamı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183880" y="91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8" name="Image 0" descr="C:/Users/LENOVO THİNKPAD E14/Desktop/din-kulturu-slayt-gorseller/optimized/geo1_kucu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38744" y="146304"/>
            <a:ext cx="621792" cy="621792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kelime anlamı: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okunur? Sübhâneke duası, namaza durup iftitah (başlangıç) tekbiri aldıktan hemen sonra, Kur'an okumaya başlamadan önce okunur.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bu duaya "namazın anahtarı" da denilebilir.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6" name="Shape 23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önemlidir? Sübhâneke duasıyla namaza, Allah'ı övüp yücelterek ve O'ndan başka ilah olmadığını hatırlayarak başlarız.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31" name="Shape 28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2" name="Text 29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3" name="Text 30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dua, kalbimizi ibadete hazırlar ve Allah'a olan bağlılığımızı tazeler.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7" name="Shape 34"/>
          <p:cNvSpPr/>
          <p:nvPr/>
        </p:nvSpPr>
        <p:spPr>
          <a:xfrm>
            <a:off x="0" y="5116068"/>
            <a:ext cx="4303059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6903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Öğrendiklerimizi Değerlendiriyoruz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183880" y="91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8" name="Image 0" descr="C:/Users/LENOVO THİNKPAD E14/Desktop/din-kulturu-slayt-gorseller/optimized/geo1_kucu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38744" y="146304"/>
            <a:ext cx="621792" cy="621792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Ünitenin sonunda şu kazanımlar değerlendirilir: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8" name="Text 15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kazanımlar, sayfadaki "✅ Değerlendirme" ve "📝 Araştırma Oyunları" bölümlerindeki zamanlı testlerle (can hakkı ve puanlama ile) ölçülür.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19"/>
          <p:cNvSpPr/>
          <p:nvPr/>
        </p:nvSpPr>
        <p:spPr>
          <a:xfrm>
            <a:off x="0" y="5116068"/>
            <a:ext cx="4840941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6903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183880" y="91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8" name="Image 0" descr="C:/Users/LENOVO THİNKPAD E14/Desktop/din-kulturu-slayt-gorseller/optimized/geo1_kucu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38744" y="146304"/>
            <a:ext cx="621792" cy="621792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ifadeleri daha iyi anlayabilmek için bilmemiz gereken temel kavramlar, konularına göre gruplandırılmıştır: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ve Peygamberimizle İlgili Kavramlar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Bize Verdikleri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6" name="Shape 23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Davranışlarımızın Karşılığı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31" name="Shape 28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32" name="Text 29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3" name="Text 30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Ahiretle İlgili Kavramlar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7" name="Shape 34"/>
          <p:cNvSpPr/>
          <p:nvPr/>
        </p:nvSpPr>
        <p:spPr>
          <a:xfrm>
            <a:off x="0" y="5116068"/>
            <a:ext cx="5378824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6903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183880" y="91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8" name="Image 0" descr="C:/Users/LENOVO THİNKPAD E14/Desktop/din-kulturu-slayt-gorseller/optimized/geo1_kucu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38744" y="146304"/>
            <a:ext cx="621792" cy="621792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İbadetlerle İlgili Kavramlar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8" name="Text 15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Mübarek Zaman ve Günler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19"/>
          <p:cNvSpPr/>
          <p:nvPr/>
        </p:nvSpPr>
        <p:spPr>
          <a:xfrm>
            <a:off x="0" y="5116068"/>
            <a:ext cx="5916706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6903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183880" y="91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8" name="Image 0" descr="C:/Users/LENOVO THİNKPAD E14/Desktop/din-kulturu-slayt-gorseller/optimized/geo1_kucu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38744" y="146304"/>
            <a:ext cx="621792" cy="621792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Besmele —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Hamd —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Şükür —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Tekbir —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İstiğfar —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Tesbih —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Bize Verdikleri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Davranışlarımızın Karşılığı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Ahiretle İlgili Kavramlar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2" name="Shape 29"/>
          <p:cNvSpPr/>
          <p:nvPr/>
        </p:nvSpPr>
        <p:spPr>
          <a:xfrm>
            <a:off x="0" y="5116068"/>
            <a:ext cx="6454588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6903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183880" y="91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8" name="Image 0" descr="C:/Users/LENOVO THİNKPAD E14/Desktop/din-kulturu-slayt-gorseller/optimized/geo1_kucu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38744" y="146304"/>
            <a:ext cx="621792" cy="621792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İbadetlerle İlgili Kavramlar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Mübarek Zaman ve Günler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5116068"/>
            <a:ext cx="6992471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83880" y="91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6" name="Image 0" descr="C:/Users/LENOVO THİNKPAD E14/Desktop/din-kulturu-slayt-gorseller/optimized/geo1_kucu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38744" y="146304"/>
            <a:ext cx="621792" cy="621792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Hamd, âlemlerin Rabbi Allah a mahsustur.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Fatiha suresi, 2. ayet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5116068"/>
            <a:ext cx="7530353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83880" y="91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6" name="Image 0" descr="C:/Users/LENOVO THİNKPAD E14/Desktop/din-kulturu-slayt-gorseller/optimized/geo1_kucu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38744" y="146304"/>
            <a:ext cx="621792" cy="621792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8" name="Shape 5">
            <a:hlinkClick r:id="rId2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9" name="Shape 6">
            <a:hlinkClick r:id="rId2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>
            <a:hlinkClick r:id="rId2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2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11" name="Text 8">
            <a:hlinkClick r:id="rId2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Çocuk İlahileri</a:t>
            </a:r>
            <a:endParaRPr lang="en-US" sz="1600" dirty="0"/>
          </a:p>
        </p:txBody>
      </p:sp>
      <p:sp>
        <p:nvSpPr>
          <p:cNvPr id="12" name="Text 9">
            <a:hlinkClick r:id="rId2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5116068"/>
            <a:ext cx="806823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6903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183880" y="91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8" name="Image 0" descr="C:/Users/LENOVO THİNKPAD E14/Desktop/din-kulturu-slayt-gorseller/optimized/geo1_kucu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38744" y="146304"/>
            <a:ext cx="621792" cy="621792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243584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243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ifadeler nedir? İnsanlar, düşüncelerini ve duygularını dille ifade eder.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188366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1883664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1956816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1371600" y="1920240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Dilimizde, dinimizin etkisiyle ortaya çıkmış ve günlük konuşmalarımıza yerleşmiş birçok söz ve kavram vardır.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259689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596896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" y="2670048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1371600" y="2633472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İşte bunlara dinî ifadeler denir.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31012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310128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6" name="Shape 23"/>
          <p:cNvSpPr/>
          <p:nvPr/>
        </p:nvSpPr>
        <p:spPr>
          <a:xfrm>
            <a:off x="658368" y="3383280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" y="3383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2" dirty="0"/>
          </a:p>
        </p:txBody>
      </p:sp>
      <p:sp>
        <p:nvSpPr>
          <p:cNvPr id="28" name="Text 25"/>
          <p:cNvSpPr/>
          <p:nvPr/>
        </p:nvSpPr>
        <p:spPr>
          <a:xfrm>
            <a:off x="1371600" y="3346704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Sevincimizi, üzüntümüzü, şükranımızı, dileğimizi ya da bir hatamızı fark ettiğimizde bu ifadeleri kullanırız.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402336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023360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31" name="Shape 28"/>
          <p:cNvSpPr/>
          <p:nvPr/>
        </p:nvSpPr>
        <p:spPr>
          <a:xfrm>
            <a:off x="658368" y="4096512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32" name="Text 29"/>
          <p:cNvSpPr/>
          <p:nvPr/>
        </p:nvSpPr>
        <p:spPr>
          <a:xfrm>
            <a:off x="658368" y="4096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2" dirty="0"/>
          </a:p>
        </p:txBody>
      </p:sp>
      <p:sp>
        <p:nvSpPr>
          <p:cNvPr id="33" name="Text 30"/>
          <p:cNvSpPr/>
          <p:nvPr/>
        </p:nvSpPr>
        <p:spPr>
          <a:xfrm>
            <a:off x="1371600" y="4059936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ifadeleri yerinde ve bilinçli kullanmak; Allah'ı, Peygamberimizi ve dinimizin öğütlediği güzel ahlakı hatırlamamızı sağlar.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7" name="Shape 34"/>
          <p:cNvSpPr/>
          <p:nvPr/>
        </p:nvSpPr>
        <p:spPr>
          <a:xfrm>
            <a:off x="0" y="5116068"/>
            <a:ext cx="8606118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83880" y="91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6" name="Image 0" descr="C:/Users/LENOVO THİNKPAD E14/Desktop/din-kulturu-slayt-gorseller/optimized/geo1_kucu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38744" y="146304"/>
            <a:ext cx="621792" cy="621792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Sınıf 1. Ünite: Günlük Hayattaki Dinî İfadeler</dc:title>
  <dc:subject>PptxGenJS Presentation</dc:subject>
  <dc:creator>Ayşe Yazıcı</dc:creator>
  <cp:lastModifiedBy>Ayşe Yazıcı</cp:lastModifiedBy>
  <cp:revision>1</cp:revision>
  <dcterms:created xsi:type="dcterms:W3CDTF">2026-07-12T14:33:35Z</dcterms:created>
  <dcterms:modified xsi:type="dcterms:W3CDTF">2026-07-12T14:33:35Z</dcterms:modified>
</cp:coreProperties>
</file>